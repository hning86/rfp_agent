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2027 Digital Marketing &amp; Performance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H&amp;R Block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Comprehensive, data-driven performance marketing strategy.</a:t>
            </a:r>
          </a:p>
          <a:p>
            <a:pPr/>
            <a:r>
              <a:t>Significantly enhance user acquisition, particularly through expertly crafted and targeted social media advertising.</a:t>
            </a:r>
          </a:p>
          <a:p>
            <a:pPr/>
            <a:r>
              <a:t>Leverage advanced analytics and continuous optimization for measurable results.</a:t>
            </a:r>
          </a:p>
          <a:p>
            <a:pPr/>
            <a:r>
              <a:t>Maximize ROI and solidify H&amp;R Block's position as a leader in tax preparation services.</a:t>
            </a:r>
          </a:p>
          <a:p>
            <a:pPr/>
            <a:r>
              <a:t>Focus on strategic channel selection, creative excellence, and transparent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Strategy &amp; Channel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Begin with in-depth audit, competitive analysis, and target audience segmentation.</a:t>
            </a:r>
          </a:p>
          <a:p>
            <a:pPr/>
            <a:r>
              <a:t>Define clear, measurable objectives aligned with H&amp;R Block's goals (e.g., user acquisition, CPA benchmarks).</a:t>
            </a:r>
          </a:p>
          <a:p>
            <a:pPr/>
            <a:r>
              <a:t>Multi-channel approach: initial focus on social media, with flexibility for other high-performing digital channels.</a:t>
            </a:r>
          </a:p>
          <a:p>
            <a:pPr/>
            <a:r>
              <a:t>Key Pillars: Audience-Centric Approach, Channel Optimization, Creative Excellence, Tracking &amp; Attribution, Continuous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&amp; Hyper-Focused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detailed buyer personas and map customer journeys.</a:t>
            </a:r>
          </a:p>
          <a:p>
            <a:pPr/>
            <a:r>
              <a:t>Granular Audience Targeting: Utilize advanced options (demographics, interests, behaviors, custom audiences, lookalikes, retargeting, geographic location).</a:t>
            </a:r>
          </a:p>
          <a:p>
            <a:pPr/>
            <a:r>
              <a:t>Reach high-intent prospects on relevant social platforms (Facebook, Instagram, LinkedIn, TikTok).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Plan Benchmarks &amp; Historical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comprehensive data infrastructure for KPIs related to user acquisition.</a:t>
            </a:r>
          </a:p>
          <a:p>
            <a:pPr/>
            <a:r>
              <a:t>Real-time Performance Monitoring: Track impressions, clicks, conversion rates, CPA, ROAS.</a:t>
            </a:r>
          </a:p>
          <a:p>
            <a:pPr/>
            <a:r>
              <a:t>A/B Testing &amp; Multivariate Testing for continuous improvement.</a:t>
            </a:r>
          </a:p>
          <a:p>
            <a:pPr/>
            <a:r>
              <a:t>Utilize platform analytics and GALE research profile for audience insights.</a:t>
            </a:r>
          </a:p>
          <a:p>
            <a:pPr/>
            <a:r>
              <a:t>Provide regular, detailed reports with actionable insights and recommendations.</a:t>
            </a:r>
          </a:p>
          <a:p>
            <a:pPr/>
            <a:r>
              <a:t>Employ predictive analytics and advanced attribution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Edge &amp; Strategic Market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landscape analysis informs strategy development.</a:t>
            </a:r>
          </a:p>
          <a:p>
            <a:pPr/>
            <a:r>
              <a:t>Leverage data-driven insights to identify competitive advantages and market opportunities.</a:t>
            </a:r>
          </a:p>
          <a:p>
            <a:pPr/>
            <a:r>
              <a:t>Agile methodology allows for rapid adaptation to market shifts and competitor actions.</a:t>
            </a:r>
          </a:p>
          <a:p>
            <a:pPr/>
            <a:r>
              <a:t>Strategic timing and optimization for peak periods, critical for seasonal services like tax preparation.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 &amp; Win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Opportunity: Optimized CPA – Achieve favorable Cost-Per-Acquisition through smart bidding and targeting.</a:t>
            </a:r>
          </a:p>
          <a:p>
            <a:pPr/>
            <a:r>
              <a:t>Strategic Opportunity: Gen-Creative Engagement – Leverage compelling, data-informed creative content for higher engagement and conversion.</a:t>
            </a:r>
          </a:p>
          <a:p>
            <a:pPr/>
            <a:r>
              <a:t>Win Theme: Market Leadership – Solidify H&amp;R Block's position through aggressive, data-driven user acquisition.</a:t>
            </a:r>
          </a:p>
          <a:p>
            <a:pPr/>
            <a:r>
              <a:t>Win Theme: Measurable Impact – Deliver transparent, actionable insights for continuous growth and maximized ROI.</a:t>
            </a:r>
          </a:p>
          <a:p>
            <a:pPr/>
            <a:r>
              <a:t>Win Theme: Broad Purpose Alignment – Ensure marketing efforts align with H&amp;R Block's overall business objectives and brand goals.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Campaign 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to be developed collaboratively post-discovery phase.</a:t>
            </a:r>
          </a:p>
          <a:p>
            <a:pPr/>
            <a:r>
              <a:t>Typical Phases: Strategy Development, Campaign Setup &amp; Launch, Ongoing Optimization, Reporting &amp; Analysis.</a:t>
            </a:r>
          </a:p>
          <a:p>
            <a:pPr/>
            <a:r>
              <a:t>Key Milestones: Strategy Approval, Ad Creative Sign-off, Campaign Launch, Monthly Performance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